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4427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9784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Azure Storage Environment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Cost Efficiency, Data Protection &amp; Resilience — Case Study Assessment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44272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0" y="365760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48590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66160" y="3291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44272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0540" y="365760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32054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66160" y="4754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Mukona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5120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3291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44272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5180" y="365760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15518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0800" y="4754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Cynthia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5120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235440" y="329184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44272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89820" y="365760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9989820" y="3657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235440" y="47548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Tlholo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35440" y="5120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QUESTION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Architecture: Which Storage Account Type?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916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A264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General-Purpose v2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(GPv2) Storage Account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22960" y="3246120"/>
            <a:ext cx="4480560" cy="0"/>
          </a:xfrm>
          <a:prstGeom prst="line">
            <a:avLst/>
          </a:prstGeom>
          <a:noFill/>
          <a:ln w="12700">
            <a:solidFill>
              <a:srgbClr val="2A4A7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42900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 supports Blob, File, Queue, Table and Disk services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Hot, Cool, Cold and Archive tiers for lifecycle management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Azure storage features, redundancy options (LRS/ZRS/GRS/GZRS)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per-GB pricing of all account kinds — most cost-efficient default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9320" y="1783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GPv2 fits ZTQ's needs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989320" y="2331720"/>
            <a:ext cx="5669280" cy="713232"/>
          </a:xfrm>
          <a:prstGeom prst="roundRect">
            <a:avLst>
              <a:gd name="adj" fmla="val 7692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404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Materials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17920" y="2697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(Hot/Cool tiers)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3200400"/>
            <a:ext cx="5669280" cy="713232"/>
          </a:xfrm>
          <a:prstGeom prst="roundRect">
            <a:avLst>
              <a:gd name="adj" fmla="val 7692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32735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3566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shares (Azure Files)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4069080"/>
            <a:ext cx="5669280" cy="713232"/>
          </a:xfrm>
          <a:prstGeom prst="roundRect">
            <a:avLst>
              <a:gd name="adj" fmla="val 7692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41422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Queue services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4937760"/>
            <a:ext cx="5669280" cy="713232"/>
          </a:xfrm>
          <a:prstGeom prst="roundRect">
            <a:avLst>
              <a:gd name="adj" fmla="val 7692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17920" y="50109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Backups &amp; Archives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17920" y="5303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(Archive tier)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989320" y="58978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GPv2 account lets ZTQ consolidate all four data workloads under a single, unified management, security and billing boundary — avoiding the complexity of separate specialized accounts.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QUESTION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 Strategy: ZRS vs. GRS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7830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0B4D8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240280"/>
            <a:ext cx="534924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89280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ZRS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77240" y="229514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Zone-Redundant Storage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" y="28346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Synchronously replicates data across 3 physically separate availability zones within a single region.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347472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datacenter/zone-level failure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Low-latency, synchronous writes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protection from a full regional outage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507492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0A2647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074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Everyday operational data (active course &amp; project files)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55080" y="17830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080" y="17830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44272"/>
          </a:solidFill>
          <a:ln/>
        </p:spPr>
      </p:sp>
      <p:sp>
        <p:nvSpPr>
          <p:cNvPr id="18" name="Shape 15"/>
          <p:cNvSpPr/>
          <p:nvPr/>
        </p:nvSpPr>
        <p:spPr>
          <a:xfrm>
            <a:off x="6355080" y="2240280"/>
            <a:ext cx="5349240" cy="411480"/>
          </a:xfrm>
          <a:prstGeom prst="rect">
            <a:avLst/>
          </a:prstGeom>
          <a:solidFill>
            <a:srgbClr val="144272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189280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GRS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629400" y="229514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Geo-Redundant Storage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629400" y="28346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Asynchronously replicates data to a secondary, geographically distant paired region.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29400" y="347472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a complete regional disaster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durable even if primary region is lost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— small replication lag to secondary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29400" y="507492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0A2647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5074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Critical system backups &amp; compliance archives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QUESTION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Classification of ZTQ's Data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9202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202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E63946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2212848"/>
            <a:ext cx="2651760" cy="3017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920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08760" y="2697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876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7512" y="35204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Course Files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68680" y="4343400"/>
            <a:ext cx="1920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448056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frequently — lowest access cost, highest storage cost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74136" y="19202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74136" y="19202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00B4D8"/>
          </a:solidFill>
          <a:ln/>
        </p:spPr>
      </p:sp>
      <p:sp>
        <p:nvSpPr>
          <p:cNvPr id="18" name="Shape 15"/>
          <p:cNvSpPr/>
          <p:nvPr/>
        </p:nvSpPr>
        <p:spPr>
          <a:xfrm>
            <a:off x="3374136" y="2212848"/>
            <a:ext cx="2651760" cy="3017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3374136" y="1920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379976" y="2697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997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538728" y="35204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Project Files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739896" y="4343400"/>
            <a:ext cx="1920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75304" y="448056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access — min. 30-day storage commitment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245352" y="19202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19202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144272"/>
          </a:solidFill>
          <a:ln/>
        </p:spPr>
      </p:sp>
      <p:sp>
        <p:nvSpPr>
          <p:cNvPr id="27" name="Shape 24"/>
          <p:cNvSpPr/>
          <p:nvPr/>
        </p:nvSpPr>
        <p:spPr>
          <a:xfrm>
            <a:off x="6245352" y="2212848"/>
            <a:ext cx="2651760" cy="301752"/>
          </a:xfrm>
          <a:prstGeom prst="rect">
            <a:avLst/>
          </a:prstGeom>
          <a:solidFill>
            <a:srgbClr val="144272"/>
          </a:solidFill>
          <a:ln/>
        </p:spPr>
      </p:sp>
      <p:sp>
        <p:nvSpPr>
          <p:cNvPr id="28" name="Text 25"/>
          <p:cNvSpPr/>
          <p:nvPr/>
        </p:nvSpPr>
        <p:spPr>
          <a:xfrm>
            <a:off x="6245352" y="1920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251192" y="2697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427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51192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4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409944" y="35204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Project Records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6611112" y="4343400"/>
            <a:ext cx="1920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46520" y="448056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accessed — min. 90-day storage commitment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116568" y="19202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16568" y="19202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0A2647"/>
          </a:solidFill>
          <a:ln/>
        </p:spPr>
      </p:sp>
      <p:sp>
        <p:nvSpPr>
          <p:cNvPr id="36" name="Shape 33"/>
          <p:cNvSpPr/>
          <p:nvPr/>
        </p:nvSpPr>
        <p:spPr>
          <a:xfrm>
            <a:off x="9116568" y="2212848"/>
            <a:ext cx="2651760" cy="301752"/>
          </a:xfrm>
          <a:prstGeom prst="rect">
            <a:avLst/>
          </a:prstGeom>
          <a:solidFill>
            <a:srgbClr val="0A2647"/>
          </a:solidFill>
          <a:ln/>
        </p:spPr>
      </p:sp>
      <p:sp>
        <p:nvSpPr>
          <p:cNvPr id="37" name="Text 34"/>
          <p:cNvSpPr/>
          <p:nvPr/>
        </p:nvSpPr>
        <p:spPr>
          <a:xfrm>
            <a:off x="9116568" y="19202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0122408" y="2697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264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12240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9281160" y="352044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Compliance Backups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9482328" y="4343400"/>
            <a:ext cx="1920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317736" y="4480560"/>
            <a:ext cx="2249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tier — min. 180-day commitment, hour-scale rehydration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QUESTION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Management Policy: Time-Based Tier Transitions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sequence — based on Last Modified date, applied automatically account-wide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670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3127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 days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32888" y="3044952"/>
            <a:ext cx="283464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2" name="Shape 9"/>
          <p:cNvSpPr/>
          <p:nvPr/>
        </p:nvSpPr>
        <p:spPr>
          <a:xfrm>
            <a:off x="2834640" y="24688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2834640" y="2670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926080" y="3127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days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27448" y="3044952"/>
            <a:ext cx="283464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0" y="24688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44272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2670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20640" y="3127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90 days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22008" y="3044952"/>
            <a:ext cx="283464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0" name="Shape 17"/>
          <p:cNvSpPr/>
          <p:nvPr/>
        </p:nvSpPr>
        <p:spPr>
          <a:xfrm>
            <a:off x="7223760" y="24688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0A2647"/>
          </a:solidFill>
          <a:ln/>
        </p:spPr>
      </p:sp>
      <p:sp>
        <p:nvSpPr>
          <p:cNvPr id="21" name="Text 18"/>
          <p:cNvSpPr/>
          <p:nvPr/>
        </p:nvSpPr>
        <p:spPr>
          <a:xfrm>
            <a:off x="7223760" y="2670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3127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180 days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116568" y="3044952"/>
            <a:ext cx="283464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21"/>
          <p:cNvSpPr/>
          <p:nvPr/>
        </p:nvSpPr>
        <p:spPr>
          <a:xfrm>
            <a:off x="9418320" y="246888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5C6B73"/>
          </a:solidFill>
          <a:ln/>
        </p:spPr>
      </p:sp>
      <p:sp>
        <p:nvSpPr>
          <p:cNvPr id="25" name="Text 22"/>
          <p:cNvSpPr/>
          <p:nvPr/>
        </p:nvSpPr>
        <p:spPr>
          <a:xfrm>
            <a:off x="9418320" y="2670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509760" y="3127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2,555 days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years)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" y="4251960"/>
            <a:ext cx="11183112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rule definition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77240" y="48006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to Cool: baseBlob was modified 30+ days ago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to Cold: baseBlob was modified 90+ days ago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to Archive: baseBlob was modified 180+ days ago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blob: baseBlob was modified 2,555+ days ago (7 years)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QUESTION 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RBAC Hierarchy Scope for the Training Admin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6916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691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Group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51760" y="2487168"/>
            <a:ext cx="182880" cy="219456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2724912"/>
            <a:ext cx="3886200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7249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11780" y="3520440"/>
            <a:ext cx="182880" cy="219456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3" name="Shape 10"/>
          <p:cNvSpPr/>
          <p:nvPr/>
        </p:nvSpPr>
        <p:spPr>
          <a:xfrm>
            <a:off x="1280160" y="3758184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7320" y="375818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Group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RG-ZTQ-Training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971800" y="4553712"/>
            <a:ext cx="182880" cy="219456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6" name="Shape 13"/>
          <p:cNvSpPr/>
          <p:nvPr/>
        </p:nvSpPr>
        <p:spPr>
          <a:xfrm>
            <a:off x="1600200" y="4791456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37360" y="479145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532120" y="1691640"/>
            <a:ext cx="6126480" cy="1828800"/>
          </a:xfrm>
          <a:prstGeom prst="roundRect">
            <a:avLst>
              <a:gd name="adj" fmla="val 4000"/>
            </a:avLst>
          </a:prstGeom>
          <a:solidFill>
            <a:srgbClr val="0A2647"/>
          </a:solidFill>
          <a:ln/>
        </p:spPr>
      </p:sp>
      <p:sp>
        <p:nvSpPr>
          <p:cNvPr id="19" name="Text 16"/>
          <p:cNvSpPr/>
          <p:nvPr/>
        </p:nvSpPr>
        <p:spPr>
          <a:xfrm>
            <a:off x="5806440" y="1874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 Resource Group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6440" y="228600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access directly on "RG-ZTQ-Training" — not at the subscription or management group level.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532120" y="3703320"/>
            <a:ext cx="6126480" cy="1371600"/>
          </a:xfrm>
          <a:prstGeom prst="roundRect">
            <a:avLst>
              <a:gd name="adj" fmla="val 5333"/>
            </a:avLst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5806440" y="385876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Role:  Contributor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806440" y="42519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(built-in role, scoped to the resource group)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532120" y="525780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full management of resources inside RG-ZTQ-Training only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grant access to any resource outside that resource group — production is isolated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RBAC role-assignment rights (unlike Owner), further limiting privilege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QUESTION 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Container-Level Least Privilege for Finance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8F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Storage-Account-Level Access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7240" y="2697480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BE4E6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6974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container — accessible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319272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BE4E6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3192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container — accessible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3941064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BE4E6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394106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container — accessible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4562856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BE4E6"/>
          </a:solidFill>
          <a:ln w="9525">
            <a:solidFill>
              <a:srgbClr val="E639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56285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IT-Ops container — accessible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527608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can read/write every container in the account — a major over-exposure of unrelated departmental data.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8FC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29400" y="2057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Container-Level Access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629400" y="2697480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E4F5F0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26974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container — accessible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29400" y="3319272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331927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container — no access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29400" y="3941064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394106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container — no access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29400" y="4562856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2280" y="456285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IT-Ops container — no access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29400" y="5276088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"Storage Blob Data Contributor" only on the Finance container grants access to Finance data alone — true least privilege.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QUESTION 7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Entra ID + RBAC vs. Shared Access Keys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BE4E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011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Access Keys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secret grants full, unrestricted control of the entire storage account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to an individual identity — actions can't be traced to a specific admin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scoped to specific data, actions, or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leak compromises the whole account; rotating it affects every user at once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E4F5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011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 ID + Azure RBAC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29400" y="256032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each admin as their own identity — supports MFA &amp; Conditional Access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scoped precisely to role and resource (least privilege)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 and attributable to the individual in Azure Activity Log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revoked instantly by disabling one user — no account-wide key rotation needed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QUESTION 8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module4.pdf: Three Layers of Protection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an administrator accidentally deletes "training-material/module4.pdf"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97380" y="233172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189738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" y="3246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Soft Delete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77240" y="388620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deleted blob is retained (not purged) for a configured retention window (e.g. 7–30 days) and can be undeleted in place, restoring module4.pdf exactly as it was.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041648" y="3913632"/>
            <a:ext cx="256032" cy="219456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5968" y="20574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10428" y="2331720"/>
            <a:ext cx="731520" cy="731520"/>
          </a:xfrm>
          <a:prstGeom prst="ellipse">
            <a:avLst/>
          </a:prstGeom>
          <a:solidFill>
            <a:srgbClr val="144272"/>
          </a:solidFill>
          <a:ln/>
        </p:spPr>
      </p:sp>
      <p:sp>
        <p:nvSpPr>
          <p:cNvPr id="16" name="Text 13"/>
          <p:cNvSpPr/>
          <p:nvPr/>
        </p:nvSpPr>
        <p:spPr>
          <a:xfrm>
            <a:off x="5710428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544568" y="3246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 Versioning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590288" y="388620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file was overwritten instead of deleted, every prior version is automatically kept — the previous version of module4.pdf can be promoted back to current.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54696" y="3913632"/>
            <a:ext cx="256032" cy="219456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9016" y="20574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23476" y="2331720"/>
            <a:ext cx="731520" cy="731520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22" name="Text 19"/>
          <p:cNvSpPr/>
          <p:nvPr/>
        </p:nvSpPr>
        <p:spPr>
          <a:xfrm>
            <a:off x="9523476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357616" y="3246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Soft Delete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403336" y="388620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entire training-material container itself is deleted, container soft delete restores the whole container — including all blobs and their version history.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QUESTION 9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Settings to Prohibit Public Access &amp; Enforce Encryption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148840"/>
            <a:ext cx="685800" cy="685800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37360" y="194767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Blob Anonymous Access — Disabled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23774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 the storage account's Configuration blade so no container or blob can ever be made publicly readable, regardless of individual container settings.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355848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721608"/>
            <a:ext cx="685800" cy="685800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7216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737360" y="35204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Transfer Required — Enabled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37360" y="395020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all REST API requests to the account (Blob, File, Queue, Table) to use HTTPS, rejecting any unencrypted HTTP connection.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4928616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5294376"/>
            <a:ext cx="685800" cy="685800"/>
          </a:xfrm>
          <a:prstGeom prst="ellipse">
            <a:avLst/>
          </a:prstGeom>
          <a:solidFill>
            <a:srgbClr val="0A264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29437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37360" y="509320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Network Access — Disabled / Selected Networks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737360" y="5522976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the storage endpoint from the open internet, permitting traffic only from approved VNets, private endpoints, or firewall-allowed IP ranges.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A2647"/>
          </a:solidFill>
          <a:ln/>
        </p:spPr>
      </p:sp>
      <p:pic>
        <p:nvPicPr>
          <p:cNvPr id="3" name="Image 0" descr="/home/claude/deck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QUESTION 10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325880" y="6949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Deploy a Private Endpoint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11183112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69164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91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 / on-prem)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2016252"/>
            <a:ext cx="548640" cy="219456"/>
          </a:xfrm>
          <a:prstGeom prst="rightArrow">
            <a:avLst/>
          </a:prstGeom>
          <a:solidFill>
            <a:srgbClr val="E63946"/>
          </a:solidFill>
          <a:ln/>
        </p:spPr>
      </p:sp>
      <p:sp>
        <p:nvSpPr>
          <p:cNvPr id="10" name="Shape 7"/>
          <p:cNvSpPr/>
          <p:nvPr/>
        </p:nvSpPr>
        <p:spPr>
          <a:xfrm>
            <a:off x="3977640" y="169164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FBE4E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77640" y="1691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Firewall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 allow-list)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2016252"/>
            <a:ext cx="548640" cy="219456"/>
          </a:xfrm>
          <a:prstGeom prst="rightArrow">
            <a:avLst/>
          </a:prstGeom>
          <a:solidFill>
            <a:srgbClr val="E63946"/>
          </a:solidFill>
          <a:ln/>
        </p:spPr>
      </p:sp>
      <p:sp>
        <p:nvSpPr>
          <p:cNvPr id="13" name="Shape 10"/>
          <p:cNvSpPr/>
          <p:nvPr/>
        </p:nvSpPr>
        <p:spPr>
          <a:xfrm>
            <a:off x="7452360" y="1691640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0A2647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169164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(still has a public endpoint / IP)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97180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E4F5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971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Virtual Network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(VNet resources)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37560" y="3296412"/>
            <a:ext cx="548640" cy="219456"/>
          </a:xfrm>
          <a:prstGeom prst="rightArrow">
            <a:avLst/>
          </a:prstGeom>
          <a:solidFill>
            <a:srgbClr val="2A9D8F"/>
          </a:solidFill>
          <a:ln/>
        </p:spPr>
      </p:sp>
      <p:sp>
        <p:nvSpPr>
          <p:cNvPr id="18" name="Shape 15"/>
          <p:cNvSpPr/>
          <p:nvPr/>
        </p:nvSpPr>
        <p:spPr>
          <a:xfrm>
            <a:off x="3977640" y="2971800"/>
            <a:ext cx="2743200" cy="868680"/>
          </a:xfrm>
          <a:prstGeom prst="roundRect">
            <a:avLst>
              <a:gd name="adj" fmla="val 7368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3977640" y="2971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 IP, MS backbone)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12280" y="3296412"/>
            <a:ext cx="548640" cy="219456"/>
          </a:xfrm>
          <a:prstGeom prst="rightArrow">
            <a:avLst/>
          </a:prstGeom>
          <a:solidFill>
            <a:srgbClr val="2A9D8F"/>
          </a:solidFill>
          <a:ln/>
        </p:spPr>
      </p:sp>
      <p:sp>
        <p:nvSpPr>
          <p:cNvPr id="21" name="Shape 18"/>
          <p:cNvSpPr/>
          <p:nvPr/>
        </p:nvSpPr>
        <p:spPr>
          <a:xfrm>
            <a:off x="7452360" y="2971800"/>
            <a:ext cx="4160520" cy="868680"/>
          </a:xfrm>
          <a:prstGeom prst="roundRect">
            <a:avLst>
              <a:gd name="adj" fmla="val 7368"/>
            </a:avLst>
          </a:prstGeom>
          <a:solidFill>
            <a:srgbClr val="0A2647"/>
          </a:solidFill>
          <a:ln/>
        </p:spPr>
      </p:sp>
      <p:sp>
        <p:nvSpPr>
          <p:cNvPr id="22" name="Text 19"/>
          <p:cNvSpPr/>
          <p:nvPr/>
        </p:nvSpPr>
        <p:spPr>
          <a:xfrm>
            <a:off x="7452360" y="297180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public endpoint exposure)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4297680"/>
            <a:ext cx="11183112" cy="18288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Private Endpoint when: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77240" y="48463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must stay entirely on Microsoft's private backbone with zero exposure to the public internet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Compliance/regulatory rules require sensitive data (e.g. compliance backups) to have no public IP reachability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access is needed via ExpressRoute/VPN without traversing the internet at all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0292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 |  Azure Storage Environment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427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657600" cy="36576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280160"/>
            <a:ext cx="1463040" cy="14630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deck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7918" y="166055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9718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508760" y="3749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cost-efficient, resilient Azure Storage environment for ZTQ Solutions — built on least-privilege access, automated tiering, layered data protection, and network isolation.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4800600"/>
            <a:ext cx="3657600" cy="0"/>
          </a:xfrm>
          <a:prstGeom prst="line">
            <a:avLst/>
          </a:prstGeom>
          <a:noFill/>
          <a:ln w="12700">
            <a:solidFill>
              <a:srgbClr val="2A4A7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98348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   ·   Mukona   ·   Cynthia   ·   Tlholo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2026-08-24T11:53:23Z</dcterms:created>
  <dcterms:modified xsi:type="dcterms:W3CDTF">2026-08-24T11:53:23Z</dcterms:modified>
</cp:coreProperties>
</file>