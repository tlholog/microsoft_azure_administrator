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217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371600"/>
            <a:ext cx="4114800" cy="411480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241280" y="4846320"/>
            <a:ext cx="3840480" cy="3840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0" y="160020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ZTQ SOLUTIONS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0" y="2240280"/>
            <a:ext cx="1216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Compute Service Strategy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166360" y="2880360"/>
            <a:ext cx="1828800" cy="0"/>
          </a:xfrm>
          <a:prstGeom prst="line">
            <a:avLst/>
          </a:prstGeom>
          <a:noFill/>
          <a:ln w="19050">
            <a:solidFill>
              <a:srgbClr val="6B9B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0" y="30175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FE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Case Study &amp; Exercise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97380" y="4160520"/>
            <a:ext cx="822960" cy="822960"/>
          </a:xfrm>
          <a:prstGeom prst="ellipse">
            <a:avLst/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89738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21158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Nelani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11980" y="4160520"/>
            <a:ext cx="822960" cy="822960"/>
          </a:xfrm>
          <a:prstGeom prst="ellipse">
            <a:avLst/>
          </a:prstGeom>
          <a:solidFill>
            <a:srgbClr val="6B9B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441198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72618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Akani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26580" y="4160520"/>
            <a:ext cx="822960" cy="822960"/>
          </a:xfrm>
          <a:prstGeom prst="ellipse">
            <a:avLst/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692658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24078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Zibuyile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441180" y="4160520"/>
            <a:ext cx="822960" cy="822960"/>
          </a:xfrm>
          <a:prstGeom prst="ellipse">
            <a:avLst/>
          </a:prstGeom>
          <a:solidFill>
            <a:srgbClr val="6B9B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9441180" y="4160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75538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Tlhologelo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0" y="598932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the Project Team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331720" y="320040"/>
            <a:ext cx="9372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Public-Facing Marketing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1247120" cy="530352"/>
          </a:xfrm>
          <a:prstGeom prst="roundRect">
            <a:avLst>
              <a:gd name="adj" fmla="val 17241"/>
            </a:avLst>
          </a:prstGeom>
          <a:solidFill>
            <a:srgbClr val="E7F0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21792" y="111556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621792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98755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Service:  </a:t>
            </a: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 (PaaS)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5394960" cy="2084832"/>
          </a:xfrm>
          <a:prstGeom prst="roundRect">
            <a:avLst>
              <a:gd name="adj" fmla="val 3509"/>
            </a:avLst>
          </a:prstGeom>
          <a:solidFill>
            <a:srgbClr val="E7F0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58368" y="1856232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58368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18379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203704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 platform — zero OS patching or server maintenance overhead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slots enable zero-latency blue-green swaps with staging validation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autoscale absorbs sudden marketing-driven traffic spikes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 for Node.js / React stack out of the box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DEB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58368" y="4041648"/>
            <a:ext cx="310896" cy="310896"/>
          </a:xfrm>
          <a:prstGeom prst="ellipse">
            <a:avLst/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658368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023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389120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low-level infrastructure control than IaaS (no OS/registry access)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starts possible on lower pricing tiers under sudden spikes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can rise on Premium tiers needed for multiple slots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5321808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731520" y="54132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6327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Near-zero-downtime releases: validate in staging, then swap to production instantly — ideal for high-visibility campaign launches.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169164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9F2"/>
          </a:solidFill>
          <a:ln w="12700">
            <a:solidFill>
              <a:srgbClr val="EBD9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 Deployment Flow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33172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6B9B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6537960" y="2331720"/>
            <a:ext cx="18288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Traffic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2468880"/>
            <a:ext cx="548640" cy="274320"/>
          </a:xfrm>
          <a:prstGeom prst="rightArrow">
            <a:avLst/>
          </a:prstGeom>
          <a:solidFill>
            <a:srgbClr val="6B9B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9189720" y="224028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9189720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(PaaS Plan)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287000" y="2971800"/>
            <a:ext cx="0" cy="502920"/>
          </a:xfrm>
          <a:prstGeom prst="line">
            <a:avLst/>
          </a:prstGeom>
          <a:noFill/>
          <a:ln w="12700">
            <a:solidFill>
              <a:srgbClr val="5B6B5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766560" y="379476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766560" y="379476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Slot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464040" y="3794760"/>
            <a:ext cx="1828800" cy="685800"/>
          </a:xfrm>
          <a:prstGeom prst="roundRect">
            <a:avLst>
              <a:gd name="adj" fmla="val 8000"/>
            </a:avLst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9464040" y="379476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Slot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(live)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732520" y="3977640"/>
            <a:ext cx="594360" cy="320040"/>
          </a:xfrm>
          <a:prstGeom prst="leftRightArrow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7955280" y="4315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slot swap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92440" y="48920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1E4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809244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• Auto-patched • Autoscale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Architectural Assessment  •  Azure Compute Strategy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331720" y="320040"/>
            <a:ext cx="9372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Portal Microservices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1247120" cy="530352"/>
          </a:xfrm>
          <a:prstGeom prst="roundRect">
            <a:avLst>
              <a:gd name="adj" fmla="val 17241"/>
            </a:avLst>
          </a:prstGeom>
          <a:solidFill>
            <a:srgbClr val="E7F0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21792" y="111556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621792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98755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Service:  </a:t>
            </a: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Container Apps (ACA)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5394960" cy="2084832"/>
          </a:xfrm>
          <a:prstGeom prst="roundRect">
            <a:avLst>
              <a:gd name="adj" fmla="val 3509"/>
            </a:avLst>
          </a:prstGeom>
          <a:solidFill>
            <a:srgbClr val="E7F0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58368" y="1856232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58368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18379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203704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(KEDA-based) scaling matches applicant submission volume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Scale-to-zero on idle replicas minimizes cost between hiring events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 per microservice (resume parsing, postings, notifications)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canary traffic-splitting without managing Kubernetes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DEB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58368" y="4041648"/>
            <a:ext cx="310896" cy="310896"/>
          </a:xfrm>
          <a:prstGeom prst="ellipse">
            <a:avLst/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658368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023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389120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infrastructure transparency than raw AKS for complex networking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latency possible when scaling up from zero replicas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container/image discipline across all microservices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5321808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731520" y="54132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6327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what runs: replicas scale from 0 to N on event queues, cutting idle cost while still supporting safe canary rollouts.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169164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9F2"/>
          </a:solidFill>
          <a:ln w="12700">
            <a:solidFill>
              <a:srgbClr val="EBD9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Scaling &amp; Canary Rollout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28600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6B9B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6537960" y="2286000"/>
            <a:ext cx="17373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Queue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66760" y="2423160"/>
            <a:ext cx="502920" cy="274320"/>
          </a:xfrm>
          <a:prstGeom prst="rightArrow">
            <a:avLst/>
          </a:prstGeom>
          <a:solidFill>
            <a:srgbClr val="6B9B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9006840" y="2057400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1E4D0"/>
          </a:solidFill>
          <a:ln w="12700">
            <a:solidFill>
              <a:srgbClr val="2C5F2D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9006840" y="20848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Apps Environment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25712" y="2395728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9125712" y="2395728"/>
            <a:ext cx="731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939528" y="2395728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 txBox="1"/>
          <p:nvPr/>
        </p:nvSpPr>
        <p:spPr>
          <a:xfrm>
            <a:off x="9939528" y="2395728"/>
            <a:ext cx="731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0753344" y="2395728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5B6B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 txBox="1"/>
          <p:nvPr/>
        </p:nvSpPr>
        <p:spPr>
          <a:xfrm>
            <a:off x="10753344" y="2395728"/>
            <a:ext cx="640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 rot="5400000">
            <a:off x="7818120" y="3063240"/>
            <a:ext cx="365760" cy="228600"/>
          </a:xfrm>
          <a:prstGeom prst="rightArrow">
            <a:avLst/>
          </a:prstGeom>
          <a:solidFill>
            <a:srgbClr val="6B9B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537960" y="34290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653796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92440" y="34290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809244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46920" y="342900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9646920" y="3429000"/>
            <a:ext cx="14173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309360" y="4069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scaled microservices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49440" y="452628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 txBox="1"/>
          <p:nvPr/>
        </p:nvSpPr>
        <p:spPr>
          <a:xfrm>
            <a:off x="6949440" y="4526280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v1 — 90%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(Instagram)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052560" y="4526280"/>
            <a:ext cx="1920240" cy="457200"/>
          </a:xfrm>
          <a:prstGeom prst="roundRect">
            <a:avLst>
              <a:gd name="adj" fmla="val 12000"/>
            </a:avLst>
          </a:prstGeom>
          <a:solidFill>
            <a:srgbClr val="6B9B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9052560" y="4526280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v2 — 10%</a:t>
            </a:r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(Instagram-Beta)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309360" y="5074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canary traffic split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Architectural Assessment  •  Azure Compute Strategy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2331720" y="320040"/>
            <a:ext cx="9372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2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Learning Management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11247120" cy="530352"/>
          </a:xfrm>
          <a:prstGeom prst="roundRect">
            <a:avLst>
              <a:gd name="adj" fmla="val 17241"/>
            </a:avLst>
          </a:prstGeom>
          <a:solidFill>
            <a:srgbClr val="E7F0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21792" y="1115568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621792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987552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Service:  </a:t>
            </a: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Virtual Machines (IaaS)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5394960" cy="2084832"/>
          </a:xfrm>
          <a:prstGeom prst="roundRect">
            <a:avLst>
              <a:gd name="adj" fmla="val 3509"/>
            </a:avLst>
          </a:prstGeom>
          <a:solidFill>
            <a:srgbClr val="E7F0E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58368" y="1856232"/>
            <a:ext cx="310896" cy="310896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658368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183794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203704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OS-level control: registry edits, custom drivers, SQL Agent jobs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legacy IIS, Windows Server, and C++ dependencies natively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continuous batch processing and media transcoding workloads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upgrades across an instance / scale set with no PaaS constraints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DEB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58368" y="4041648"/>
            <a:ext cx="310896" cy="310896"/>
          </a:xfrm>
          <a:prstGeom prst="ellipse">
            <a:avLst/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658368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4023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389120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manages OS patching, security hardening, and maintenance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operational overhead than PaaS or container options</a:t>
            </a:r>
            <a:endParaRPr lang="en-US" sz="1150" dirty="0"/>
          </a:p>
          <a:p>
            <a:pPr marL="342900" indent="-342900">
              <a:lnSpc>
                <a:spcPct val="100000"/>
              </a:lnSpc>
              <a:spcAft>
                <a:spcPts val="500"/>
              </a:spcAft>
              <a:buSzPct val="100000"/>
              <a:buChar char="✦"/>
            </a:pPr>
            <a:r>
              <a:rPr lang="en-US" sz="1150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scale elastically compared to App Service or ACA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5321808"/>
            <a:ext cx="5394960" cy="896112"/>
          </a:xfrm>
          <a:prstGeom prst="roundRect">
            <a:avLst>
              <a:gd name="adj" fmla="val 8163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731520" y="54132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6327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administrative control over the OS and hardware — the only option that supports registry-level changes and legacy system agents.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169164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9F2"/>
          </a:solidFill>
          <a:ln w="12700">
            <a:solidFill>
              <a:srgbClr val="EBD9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Upgrade Across VM Instances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233172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6B9B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653796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Config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75320" y="2468880"/>
            <a:ext cx="502920" cy="274320"/>
          </a:xfrm>
          <a:prstGeom prst="rightArrow">
            <a:avLst/>
          </a:prstGeom>
          <a:solidFill>
            <a:srgbClr val="6B9B5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8869680" y="196596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8869680" y="196596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195560" y="196596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E879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10195560" y="196596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69680" y="301752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5B6B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 txBox="1"/>
          <p:nvPr/>
        </p:nvSpPr>
        <p:spPr>
          <a:xfrm>
            <a:off x="8869680" y="301752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195560" y="301752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5B6B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 txBox="1"/>
          <p:nvPr/>
        </p:nvSpPr>
        <p:spPr>
          <a:xfrm>
            <a:off x="10195560" y="301752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126980" y="1965960"/>
            <a:ext cx="0" cy="1965960"/>
          </a:xfrm>
          <a:prstGeom prst="line">
            <a:avLst/>
          </a:prstGeom>
          <a:noFill/>
          <a:ln w="15875">
            <a:solidFill>
              <a:srgbClr val="2C5F2D"/>
            </a:solidFill>
            <a:prstDash val="dash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 txBox="1"/>
          <p:nvPr/>
        </p:nvSpPr>
        <p:spPr>
          <a:xfrm>
            <a:off x="795528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upgraded one at a time — service stays available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537960" y="324612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F1E4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 txBox="1"/>
          <p:nvPr/>
        </p:nvSpPr>
        <p:spPr>
          <a:xfrm>
            <a:off x="6537960" y="3246120"/>
            <a:ext cx="196596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+ SQL 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/ Transcoding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092440" y="48920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F1E4D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8092440" y="4892040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• Custom Drivers • Full Admin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ZTQ Solutions Architectural Assessment  •  Azure Compute Strategy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4206240" cy="420624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424160" y="-1645920"/>
            <a:ext cx="3840480" cy="3840480"/>
          </a:xfrm>
          <a:prstGeom prst="ellipse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0" y="214884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166360" y="3063240"/>
            <a:ext cx="1828800" cy="0"/>
          </a:xfrm>
          <a:prstGeom prst="line">
            <a:avLst/>
          </a:prstGeom>
          <a:noFill/>
          <a:ln w="25400">
            <a:solidFill>
              <a:srgbClr val="E879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0" y="32461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Compute Service Strategy — ZTQ Solutions Case Study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0" y="4160520"/>
            <a:ext cx="1216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Lelani   •   Akani   •   Zibuyile   •   Tlhologelo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0" y="47091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Microsoft Office PowerPoint</Application>
  <PresentationFormat>Widescreen</PresentationFormat>
  <Paragraphs>123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Tlhologelo Makweya</cp:lastModifiedBy>
  <cp:revision>2</cp:revision>
  <dcterms:created xsi:type="dcterms:W3CDTF">2026-09-08T09:04:31Z</dcterms:created>
  <dcterms:modified xsi:type="dcterms:W3CDTF">2026-09-08T09:40:02Z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2026-09-08T09:40:02Z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9bd862ef-8dea-4aa9-8c60-04d1a93bb25d</vt:lpwstr>
  </property>
  <property fmtid="{D5CDD505-2E9C-101B-9397-08002B2CF9AE}" pid="7" name="MSIP_Label_defa4170-0d19-0005-0004-bc88714345d2_ActionId">
    <vt:lpwstr>a2be1e68-af7c-409e-be25-80720ea2b556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